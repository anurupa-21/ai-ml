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Neue Machina Ultra-Bold" charset="1" panose="00000900000000000000"/>
      <p:regular r:id="rId21"/>
    </p:embeddedFont>
    <p:embeddedFont>
      <p:font typeface="Montserrat Medium" charset="1" panose="00000600000000000000"/>
      <p:regular r:id="rId22"/>
    </p:embeddedFont>
    <p:embeddedFont>
      <p:font typeface="Montserrat" charset="1" panose="00000500000000000000"/>
      <p:regular r:id="rId23"/>
    </p:embeddedFont>
    <p:embeddedFont>
      <p:font typeface="Montserrat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1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1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1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75567" y="-4926720"/>
            <a:ext cx="9808535" cy="9808535"/>
          </a:xfrm>
          <a:custGeom>
            <a:avLst/>
            <a:gdLst/>
            <a:ahLst/>
            <a:cxnLst/>
            <a:rect r="r" b="b" t="t" l="l"/>
            <a:pathLst>
              <a:path h="9808535" w="9808535">
                <a:moveTo>
                  <a:pt x="0" y="0"/>
                </a:moveTo>
                <a:lnTo>
                  <a:pt x="9808534" y="0"/>
                </a:lnTo>
                <a:lnTo>
                  <a:pt x="9808534" y="9808535"/>
                </a:lnTo>
                <a:lnTo>
                  <a:pt x="0" y="9808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71731" y="6544095"/>
            <a:ext cx="6009009" cy="6009009"/>
          </a:xfrm>
          <a:custGeom>
            <a:avLst/>
            <a:gdLst/>
            <a:ahLst/>
            <a:cxnLst/>
            <a:rect r="r" b="b" t="t" l="l"/>
            <a:pathLst>
              <a:path h="6009009" w="6009009">
                <a:moveTo>
                  <a:pt x="0" y="0"/>
                </a:moveTo>
                <a:lnTo>
                  <a:pt x="6009009" y="0"/>
                </a:lnTo>
                <a:lnTo>
                  <a:pt x="6009009" y="6009010"/>
                </a:lnTo>
                <a:lnTo>
                  <a:pt x="0" y="6009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11884038" y="6896830"/>
            <a:ext cx="8209501" cy="6060105"/>
          </a:xfrm>
          <a:custGeom>
            <a:avLst/>
            <a:gdLst/>
            <a:ahLst/>
            <a:cxnLst/>
            <a:rect r="r" b="b" t="t" l="l"/>
            <a:pathLst>
              <a:path h="6060105" w="8209501">
                <a:moveTo>
                  <a:pt x="0" y="0"/>
                </a:moveTo>
                <a:lnTo>
                  <a:pt x="8209501" y="0"/>
                </a:lnTo>
                <a:lnTo>
                  <a:pt x="8209501" y="6060105"/>
                </a:lnTo>
                <a:lnTo>
                  <a:pt x="0" y="606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3429">
            <a:off x="12271558" y="6401948"/>
            <a:ext cx="4723918" cy="2308815"/>
          </a:xfrm>
          <a:custGeom>
            <a:avLst/>
            <a:gdLst/>
            <a:ahLst/>
            <a:cxnLst/>
            <a:rect r="r" b="b" t="t" l="l"/>
            <a:pathLst>
              <a:path h="2308815" w="4723918">
                <a:moveTo>
                  <a:pt x="0" y="0"/>
                </a:moveTo>
                <a:lnTo>
                  <a:pt x="4723917" y="0"/>
                </a:lnTo>
                <a:lnTo>
                  <a:pt x="4723917" y="2308815"/>
                </a:lnTo>
                <a:lnTo>
                  <a:pt x="0" y="23088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80261" y="5943223"/>
            <a:ext cx="4327479" cy="600872"/>
          </a:xfrm>
          <a:custGeom>
            <a:avLst/>
            <a:gdLst/>
            <a:ahLst/>
            <a:cxnLst/>
            <a:rect r="r" b="b" t="t" l="l"/>
            <a:pathLst>
              <a:path h="600872" w="4327479">
                <a:moveTo>
                  <a:pt x="0" y="0"/>
                </a:moveTo>
                <a:lnTo>
                  <a:pt x="4327478" y="0"/>
                </a:lnTo>
                <a:lnTo>
                  <a:pt x="4327478" y="600872"/>
                </a:lnTo>
                <a:lnTo>
                  <a:pt x="0" y="6008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71533" r="0" b="-7153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32774" y="2271889"/>
            <a:ext cx="3597907" cy="3671334"/>
          </a:xfrm>
          <a:custGeom>
            <a:avLst/>
            <a:gdLst/>
            <a:ahLst/>
            <a:cxnLst/>
            <a:rect r="r" b="b" t="t" l="l"/>
            <a:pathLst>
              <a:path h="3671334" w="3597907">
                <a:moveTo>
                  <a:pt x="0" y="0"/>
                </a:moveTo>
                <a:lnTo>
                  <a:pt x="3597907" y="0"/>
                </a:lnTo>
                <a:lnTo>
                  <a:pt x="3597907" y="3671334"/>
                </a:lnTo>
                <a:lnTo>
                  <a:pt x="0" y="36713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042606">
            <a:off x="-947227" y="8169399"/>
            <a:ext cx="4602247" cy="3514966"/>
          </a:xfrm>
          <a:custGeom>
            <a:avLst/>
            <a:gdLst/>
            <a:ahLst/>
            <a:cxnLst/>
            <a:rect r="r" b="b" t="t" l="l"/>
            <a:pathLst>
              <a:path h="3514966" w="4602247">
                <a:moveTo>
                  <a:pt x="0" y="0"/>
                </a:moveTo>
                <a:lnTo>
                  <a:pt x="4602247" y="0"/>
                </a:lnTo>
                <a:lnTo>
                  <a:pt x="4602247" y="3514967"/>
                </a:lnTo>
                <a:lnTo>
                  <a:pt x="0" y="35149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19979" y="4248527"/>
            <a:ext cx="13448042" cy="168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82"/>
              </a:lnSpc>
            </a:pPr>
            <a:r>
              <a:rPr lang="en-US" b="true" sz="484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Snowflake Key Concepts and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40979" y="6028883"/>
            <a:ext cx="300604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</a:pPr>
            <a:r>
              <a:rPr lang="en-US" b="true" sz="1200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Modern Cloud Data Platform Overview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8214" y="-4882840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6" y="0"/>
                </a:lnTo>
                <a:lnTo>
                  <a:pt x="9218676" y="9218677"/>
                </a:lnTo>
                <a:lnTo>
                  <a:pt x="0" y="921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0443" y="-1551311"/>
            <a:ext cx="8685325" cy="8685325"/>
          </a:xfrm>
          <a:custGeom>
            <a:avLst/>
            <a:gdLst/>
            <a:ahLst/>
            <a:cxnLst/>
            <a:rect r="r" b="b" t="t" l="l"/>
            <a:pathLst>
              <a:path h="8685325" w="8685325">
                <a:moveTo>
                  <a:pt x="0" y="0"/>
                </a:moveTo>
                <a:lnTo>
                  <a:pt x="8685326" y="0"/>
                </a:lnTo>
                <a:lnTo>
                  <a:pt x="8685326" y="8685325"/>
                </a:lnTo>
                <a:lnTo>
                  <a:pt x="0" y="868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47802" y="4806269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7" y="0"/>
                </a:lnTo>
                <a:lnTo>
                  <a:pt x="9218677" y="9218676"/>
                </a:lnTo>
                <a:lnTo>
                  <a:pt x="0" y="9218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99438" y="7474099"/>
            <a:ext cx="8685325" cy="8685325"/>
          </a:xfrm>
          <a:custGeom>
            <a:avLst/>
            <a:gdLst/>
            <a:ahLst/>
            <a:cxnLst/>
            <a:rect r="r" b="b" t="t" l="l"/>
            <a:pathLst>
              <a:path h="8685325" w="8685325">
                <a:moveTo>
                  <a:pt x="0" y="0"/>
                </a:moveTo>
                <a:lnTo>
                  <a:pt x="8685326" y="0"/>
                </a:lnTo>
                <a:lnTo>
                  <a:pt x="8685326" y="8685325"/>
                </a:lnTo>
                <a:lnTo>
                  <a:pt x="0" y="868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69971" y="8535586"/>
            <a:ext cx="2778658" cy="2285446"/>
          </a:xfrm>
          <a:custGeom>
            <a:avLst/>
            <a:gdLst/>
            <a:ahLst/>
            <a:cxnLst/>
            <a:rect r="r" b="b" t="t" l="l"/>
            <a:pathLst>
              <a:path h="2285446" w="2778658">
                <a:moveTo>
                  <a:pt x="0" y="0"/>
                </a:moveTo>
                <a:lnTo>
                  <a:pt x="2778658" y="0"/>
                </a:lnTo>
                <a:lnTo>
                  <a:pt x="2778658" y="2285447"/>
                </a:lnTo>
                <a:lnTo>
                  <a:pt x="0" y="2285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020057" y="-2331083"/>
            <a:ext cx="4903845" cy="5636604"/>
          </a:xfrm>
          <a:custGeom>
            <a:avLst/>
            <a:gdLst/>
            <a:ahLst/>
            <a:cxnLst/>
            <a:rect r="r" b="b" t="t" l="l"/>
            <a:pathLst>
              <a:path h="5636604" w="4903845">
                <a:moveTo>
                  <a:pt x="4903845" y="0"/>
                </a:moveTo>
                <a:lnTo>
                  <a:pt x="0" y="0"/>
                </a:lnTo>
                <a:lnTo>
                  <a:pt x="0" y="5636604"/>
                </a:lnTo>
                <a:lnTo>
                  <a:pt x="4903845" y="5636604"/>
                </a:lnTo>
                <a:lnTo>
                  <a:pt x="490384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8930" y="2134307"/>
            <a:ext cx="11130050" cy="117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62"/>
              </a:lnSpc>
            </a:pPr>
            <a:r>
              <a:rPr lang="en-US" b="true" sz="6758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Snowflake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0107" y="3588163"/>
            <a:ext cx="11887695" cy="374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Cloud-based data platform available on AWS, Azure, and Google Cloud</a:t>
            </a:r>
          </a:p>
          <a:p>
            <a:pPr algn="l" marL="0" indent="0" lvl="0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Combines a new SQL query engine with a cloud-native architecture</a:t>
            </a:r>
          </a:p>
          <a:p>
            <a:pPr algn="l" marL="0" indent="0" lvl="0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hardware or software management required</a:t>
            </a:r>
          </a:p>
          <a:p>
            <a:pPr algn="l" marL="0" indent="0" lvl="0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Snowflake fully manages maintenance, upgrades, and tuning</a:t>
            </a:r>
          </a:p>
          <a:p>
            <a:pPr algn="l" marL="0" indent="0" lvl="0">
              <a:lnSpc>
                <a:spcPts val="4255"/>
              </a:lnSpc>
            </a:pPr>
            <a:r>
              <a:rPr lang="en-US" sz="30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Cannot be installed on-premises or in private clouds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9496" y="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81976" y="-1991669"/>
            <a:ext cx="7242652" cy="7242652"/>
          </a:xfrm>
          <a:custGeom>
            <a:avLst/>
            <a:gdLst/>
            <a:ahLst/>
            <a:cxnLst/>
            <a:rect r="r" b="b" t="t" l="l"/>
            <a:pathLst>
              <a:path h="7242652" w="7242652">
                <a:moveTo>
                  <a:pt x="0" y="0"/>
                </a:moveTo>
                <a:lnTo>
                  <a:pt x="7242652" y="0"/>
                </a:lnTo>
                <a:lnTo>
                  <a:pt x="7242652" y="7242652"/>
                </a:lnTo>
                <a:lnTo>
                  <a:pt x="0" y="724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80283" y="4056582"/>
            <a:ext cx="2692687" cy="2461537"/>
          </a:xfrm>
          <a:custGeom>
            <a:avLst/>
            <a:gdLst/>
            <a:ahLst/>
            <a:cxnLst/>
            <a:rect r="r" b="b" t="t" l="l"/>
            <a:pathLst>
              <a:path h="2461537" w="2692687">
                <a:moveTo>
                  <a:pt x="0" y="0"/>
                </a:moveTo>
                <a:lnTo>
                  <a:pt x="2692687" y="0"/>
                </a:lnTo>
                <a:lnTo>
                  <a:pt x="2692687" y="2461537"/>
                </a:lnTo>
                <a:lnTo>
                  <a:pt x="0" y="24615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76499" y="3754891"/>
            <a:ext cx="2724765" cy="3134370"/>
          </a:xfrm>
          <a:custGeom>
            <a:avLst/>
            <a:gdLst/>
            <a:ahLst/>
            <a:cxnLst/>
            <a:rect r="r" b="b" t="t" l="l"/>
            <a:pathLst>
              <a:path h="3134370" w="2724765">
                <a:moveTo>
                  <a:pt x="0" y="0"/>
                </a:moveTo>
                <a:lnTo>
                  <a:pt x="2724766" y="0"/>
                </a:lnTo>
                <a:lnTo>
                  <a:pt x="2724766" y="3134370"/>
                </a:lnTo>
                <a:lnTo>
                  <a:pt x="0" y="31343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1197" y="3544036"/>
            <a:ext cx="2844973" cy="2919020"/>
          </a:xfrm>
          <a:custGeom>
            <a:avLst/>
            <a:gdLst/>
            <a:ahLst/>
            <a:cxnLst/>
            <a:rect r="r" b="b" t="t" l="l"/>
            <a:pathLst>
              <a:path h="2919020" w="2844973">
                <a:moveTo>
                  <a:pt x="0" y="0"/>
                </a:moveTo>
                <a:lnTo>
                  <a:pt x="2844973" y="0"/>
                </a:lnTo>
                <a:lnTo>
                  <a:pt x="2844973" y="2919021"/>
                </a:lnTo>
                <a:lnTo>
                  <a:pt x="0" y="29190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5304" y="1515357"/>
            <a:ext cx="14318861" cy="104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78"/>
              </a:lnSpc>
            </a:pPr>
            <a:r>
              <a:rPr lang="en-US" b="true" sz="6127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Snowflake Architecture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9676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Central data repository accessible by all compute nodes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3683" y="7142412"/>
            <a:ext cx="3791112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4"/>
              </a:lnSpc>
            </a:pPr>
            <a:r>
              <a:rPr lang="en-US" b="true" sz="35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Shared-Disk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5906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Massively parallel processing across independent clusters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9913" y="7142412"/>
            <a:ext cx="3791112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4"/>
              </a:lnSpc>
            </a:pPr>
            <a:r>
              <a:rPr lang="en-US" b="true" sz="35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Shared-Nothing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70667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Combines simplicity of shared-disk with scale of shared-nothing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4674" y="7142412"/>
            <a:ext cx="3791112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34"/>
              </a:lnSpc>
            </a:pPr>
            <a:r>
              <a:rPr lang="en-US" b="true" sz="352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Hybrid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724066" y="-3249112"/>
            <a:ext cx="11805542" cy="11805542"/>
          </a:xfrm>
          <a:custGeom>
            <a:avLst/>
            <a:gdLst/>
            <a:ahLst/>
            <a:cxnLst/>
            <a:rect r="r" b="b" t="t" l="l"/>
            <a:pathLst>
              <a:path h="11805542" w="11805542">
                <a:moveTo>
                  <a:pt x="0" y="0"/>
                </a:moveTo>
                <a:lnTo>
                  <a:pt x="11805542" y="0"/>
                </a:lnTo>
                <a:lnTo>
                  <a:pt x="11805542" y="11805541"/>
                </a:lnTo>
                <a:lnTo>
                  <a:pt x="0" y="11805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03420" y="1177460"/>
            <a:ext cx="11805542" cy="11805542"/>
          </a:xfrm>
          <a:custGeom>
            <a:avLst/>
            <a:gdLst/>
            <a:ahLst/>
            <a:cxnLst/>
            <a:rect r="r" b="b" t="t" l="l"/>
            <a:pathLst>
              <a:path h="11805542" w="11805542">
                <a:moveTo>
                  <a:pt x="0" y="0"/>
                </a:moveTo>
                <a:lnTo>
                  <a:pt x="11805542" y="0"/>
                </a:lnTo>
                <a:lnTo>
                  <a:pt x="11805542" y="11805542"/>
                </a:lnTo>
                <a:lnTo>
                  <a:pt x="0" y="11805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05205" y="4667812"/>
            <a:ext cx="8893252" cy="8315191"/>
          </a:xfrm>
          <a:custGeom>
            <a:avLst/>
            <a:gdLst/>
            <a:ahLst/>
            <a:cxnLst/>
            <a:rect r="r" b="b" t="t" l="l"/>
            <a:pathLst>
              <a:path h="8315191" w="8893252">
                <a:moveTo>
                  <a:pt x="0" y="0"/>
                </a:moveTo>
                <a:lnTo>
                  <a:pt x="8893252" y="0"/>
                </a:lnTo>
                <a:lnTo>
                  <a:pt x="8893252" y="8315190"/>
                </a:lnTo>
                <a:lnTo>
                  <a:pt x="0" y="8315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365435">
            <a:off x="-3790155" y="-730855"/>
            <a:ext cx="6282382" cy="6378053"/>
          </a:xfrm>
          <a:custGeom>
            <a:avLst/>
            <a:gdLst/>
            <a:ahLst/>
            <a:cxnLst/>
            <a:rect r="r" b="b" t="t" l="l"/>
            <a:pathLst>
              <a:path h="6378053" w="6282382">
                <a:moveTo>
                  <a:pt x="0" y="0"/>
                </a:moveTo>
                <a:lnTo>
                  <a:pt x="6282382" y="0"/>
                </a:lnTo>
                <a:lnTo>
                  <a:pt x="6282382" y="6378053"/>
                </a:lnTo>
                <a:lnTo>
                  <a:pt x="0" y="63780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15841" y="3282105"/>
            <a:ext cx="9456319" cy="217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0"/>
              </a:lnSpc>
            </a:pPr>
            <a:r>
              <a:rPr lang="en-US" b="true" sz="413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Snowflake Architecture Layers</a:t>
            </a:r>
          </a:p>
          <a:p>
            <a:pPr algn="ctr" marL="0" indent="0" lvl="0">
              <a:lnSpc>
                <a:spcPts val="5790"/>
              </a:lnSpc>
            </a:pPr>
            <a:r>
              <a:rPr lang="en-US" b="true" sz="413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Storage · Compute · Cloud Services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7719" y="-294256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14326" y="6543974"/>
            <a:ext cx="5428652" cy="5428652"/>
          </a:xfrm>
          <a:custGeom>
            <a:avLst/>
            <a:gdLst/>
            <a:ahLst/>
            <a:cxnLst/>
            <a:rect r="r" b="b" t="t" l="l"/>
            <a:pathLst>
              <a:path h="5428652" w="5428652">
                <a:moveTo>
                  <a:pt x="0" y="0"/>
                </a:moveTo>
                <a:lnTo>
                  <a:pt x="5428652" y="0"/>
                </a:lnTo>
                <a:lnTo>
                  <a:pt x="5428652" y="5428652"/>
                </a:lnTo>
                <a:lnTo>
                  <a:pt x="0" y="5428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342394"/>
            <a:ext cx="4290504" cy="4970298"/>
            <a:chOff x="0" y="0"/>
            <a:chExt cx="1565187" cy="18131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AutoShape 6" id="6"/>
          <p:cNvSpPr/>
          <p:nvPr/>
        </p:nvSpPr>
        <p:spPr>
          <a:xfrm rot="-5400000">
            <a:off x="3930071" y="5631302"/>
            <a:ext cx="37741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225828" y="3342394"/>
            <a:ext cx="4290504" cy="4970298"/>
            <a:chOff x="0" y="0"/>
            <a:chExt cx="1565187" cy="1813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 rot="-5400000">
            <a:off x="9191962" y="5631302"/>
            <a:ext cx="37741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25882" y="6874980"/>
            <a:ext cx="6095177" cy="6095177"/>
          </a:xfrm>
          <a:custGeom>
            <a:avLst/>
            <a:gdLst/>
            <a:ahLst/>
            <a:cxnLst/>
            <a:rect r="r" b="b" t="t" l="l"/>
            <a:pathLst>
              <a:path h="6095177" w="6095177">
                <a:moveTo>
                  <a:pt x="0" y="0"/>
                </a:moveTo>
                <a:lnTo>
                  <a:pt x="6095177" y="0"/>
                </a:lnTo>
                <a:lnTo>
                  <a:pt x="6095177" y="6095177"/>
                </a:lnTo>
                <a:lnTo>
                  <a:pt x="0" y="609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487719" y="3342394"/>
            <a:ext cx="4290504" cy="4970298"/>
            <a:chOff x="0" y="0"/>
            <a:chExt cx="1565187" cy="1813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-320654">
            <a:off x="15023685" y="2224"/>
            <a:ext cx="4471230" cy="2308815"/>
          </a:xfrm>
          <a:custGeom>
            <a:avLst/>
            <a:gdLst/>
            <a:ahLst/>
            <a:cxnLst/>
            <a:rect r="r" b="b" t="t" l="l"/>
            <a:pathLst>
              <a:path h="2308815" w="4471230">
                <a:moveTo>
                  <a:pt x="0" y="0"/>
                </a:moveTo>
                <a:lnTo>
                  <a:pt x="4471230" y="0"/>
                </a:lnTo>
                <a:lnTo>
                  <a:pt x="4471230" y="2308815"/>
                </a:lnTo>
                <a:lnTo>
                  <a:pt x="0" y="2308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65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661459">
            <a:off x="-860948" y="8286627"/>
            <a:ext cx="2778658" cy="2285446"/>
          </a:xfrm>
          <a:custGeom>
            <a:avLst/>
            <a:gdLst/>
            <a:ahLst/>
            <a:cxnLst/>
            <a:rect r="r" b="b" t="t" l="l"/>
            <a:pathLst>
              <a:path h="2285446" w="2778658">
                <a:moveTo>
                  <a:pt x="0" y="0"/>
                </a:moveTo>
                <a:lnTo>
                  <a:pt x="2778658" y="0"/>
                </a:lnTo>
                <a:lnTo>
                  <a:pt x="2778658" y="2285447"/>
                </a:lnTo>
                <a:lnTo>
                  <a:pt x="0" y="2285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8223" y="6543974"/>
            <a:ext cx="7210834" cy="5994006"/>
          </a:xfrm>
          <a:custGeom>
            <a:avLst/>
            <a:gdLst/>
            <a:ahLst/>
            <a:cxnLst/>
            <a:rect r="r" b="b" t="t" l="l"/>
            <a:pathLst>
              <a:path h="5994006" w="7210834">
                <a:moveTo>
                  <a:pt x="0" y="0"/>
                </a:moveTo>
                <a:lnTo>
                  <a:pt x="7210834" y="0"/>
                </a:lnTo>
                <a:lnTo>
                  <a:pt x="7210834" y="5994006"/>
                </a:lnTo>
                <a:lnTo>
                  <a:pt x="0" y="5994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14400"/>
            <a:ext cx="7119102" cy="190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77"/>
              </a:lnSpc>
            </a:pPr>
            <a:r>
              <a:rPr lang="en-US" b="true" sz="541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Database Storage Layer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0371" y="3798228"/>
            <a:ext cx="2598564" cy="92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Snowflake Tables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0371" y="5135245"/>
            <a:ext cx="2991261" cy="113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Internal storage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Compressed columnar format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Micro-partitions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Structured &amp; semi-structured data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Snowflake-managed cloud storage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7500" y="3798228"/>
            <a:ext cx="2598564" cy="92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Iceberg Tables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7500" y="5114925"/>
            <a:ext cx="2677210" cy="113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External cloud storage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Open table format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lake integration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Customer-managed storage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Snowflake SQL support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97843" y="5135245"/>
            <a:ext cx="3670257" cy="113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Low-latency reads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Transactional workloads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Row-based storage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Primary key support</a:t>
            </a:r>
          </a:p>
          <a:p>
            <a:pPr algn="l" marL="0" indent="0" lvl="0">
              <a:lnSpc>
                <a:spcPts val="1874"/>
              </a:lnSpc>
            </a:pPr>
            <a:r>
              <a:rPr lang="en-US" sz="13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OLTP use cases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51104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Hybrid Tables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8214" y="-4882840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6" y="0"/>
                </a:lnTo>
                <a:lnTo>
                  <a:pt x="9218676" y="9218677"/>
                </a:lnTo>
                <a:lnTo>
                  <a:pt x="0" y="921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0443" y="-1551311"/>
            <a:ext cx="8685325" cy="8685325"/>
          </a:xfrm>
          <a:custGeom>
            <a:avLst/>
            <a:gdLst/>
            <a:ahLst/>
            <a:cxnLst/>
            <a:rect r="r" b="b" t="t" l="l"/>
            <a:pathLst>
              <a:path h="8685325" w="8685325">
                <a:moveTo>
                  <a:pt x="0" y="0"/>
                </a:moveTo>
                <a:lnTo>
                  <a:pt x="8685326" y="0"/>
                </a:lnTo>
                <a:lnTo>
                  <a:pt x="8685326" y="8685325"/>
                </a:lnTo>
                <a:lnTo>
                  <a:pt x="0" y="868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47802" y="4806269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7" y="0"/>
                </a:lnTo>
                <a:lnTo>
                  <a:pt x="9218677" y="9218676"/>
                </a:lnTo>
                <a:lnTo>
                  <a:pt x="0" y="9218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99438" y="7474099"/>
            <a:ext cx="8685325" cy="8685325"/>
          </a:xfrm>
          <a:custGeom>
            <a:avLst/>
            <a:gdLst/>
            <a:ahLst/>
            <a:cxnLst/>
            <a:rect r="r" b="b" t="t" l="l"/>
            <a:pathLst>
              <a:path h="8685325" w="8685325">
                <a:moveTo>
                  <a:pt x="0" y="0"/>
                </a:moveTo>
                <a:lnTo>
                  <a:pt x="8685326" y="0"/>
                </a:lnTo>
                <a:lnTo>
                  <a:pt x="8685326" y="8685325"/>
                </a:lnTo>
                <a:lnTo>
                  <a:pt x="0" y="868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69971" y="8535586"/>
            <a:ext cx="2778658" cy="2285446"/>
          </a:xfrm>
          <a:custGeom>
            <a:avLst/>
            <a:gdLst/>
            <a:ahLst/>
            <a:cxnLst/>
            <a:rect r="r" b="b" t="t" l="l"/>
            <a:pathLst>
              <a:path h="2285446" w="2778658">
                <a:moveTo>
                  <a:pt x="0" y="0"/>
                </a:moveTo>
                <a:lnTo>
                  <a:pt x="2778658" y="0"/>
                </a:lnTo>
                <a:lnTo>
                  <a:pt x="2778658" y="2285447"/>
                </a:lnTo>
                <a:lnTo>
                  <a:pt x="0" y="2285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020057" y="-2331083"/>
            <a:ext cx="4903845" cy="5636604"/>
          </a:xfrm>
          <a:custGeom>
            <a:avLst/>
            <a:gdLst/>
            <a:ahLst/>
            <a:cxnLst/>
            <a:rect r="r" b="b" t="t" l="l"/>
            <a:pathLst>
              <a:path h="5636604" w="4903845">
                <a:moveTo>
                  <a:pt x="4903845" y="0"/>
                </a:moveTo>
                <a:lnTo>
                  <a:pt x="0" y="0"/>
                </a:lnTo>
                <a:lnTo>
                  <a:pt x="0" y="5636604"/>
                </a:lnTo>
                <a:lnTo>
                  <a:pt x="4903845" y="5636604"/>
                </a:lnTo>
                <a:lnTo>
                  <a:pt x="490384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8930" y="2153357"/>
            <a:ext cx="11130050" cy="10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4"/>
              </a:lnSpc>
            </a:pPr>
            <a:r>
              <a:rPr lang="en-US" b="true" sz="580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Snowflake Tables Deep Dive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0107" y="3588163"/>
            <a:ext cx="11887695" cy="348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7"/>
              </a:lnSpc>
            </a:pPr>
            <a:r>
              <a:rPr lang="en-US" sz="33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reorganized into optimized, compressed columnar format</a:t>
            </a:r>
          </a:p>
          <a:p>
            <a:pPr algn="l" marL="0" indent="0" lvl="0">
              <a:lnSpc>
                <a:spcPts val="4647"/>
              </a:lnSpc>
            </a:pPr>
            <a:r>
              <a:rPr lang="en-US" sz="33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Stored in Snowflake-managed cloud storage</a:t>
            </a:r>
          </a:p>
          <a:p>
            <a:pPr algn="l" marL="0" indent="0" lvl="0">
              <a:lnSpc>
                <a:spcPts val="4647"/>
              </a:lnSpc>
            </a:pPr>
            <a:r>
              <a:rPr lang="en-US" sz="33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Micro-partitions improve query efficiency and pruning</a:t>
            </a:r>
          </a:p>
          <a:p>
            <a:pPr algn="l" marL="0" indent="0" lvl="0">
              <a:lnSpc>
                <a:spcPts val="4647"/>
              </a:lnSpc>
            </a:pPr>
            <a:r>
              <a:rPr lang="en-US" sz="331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Supports structured, semi-structured, and unstructured data via FILE type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9496" y="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81976" y="-1991669"/>
            <a:ext cx="7242652" cy="7242652"/>
          </a:xfrm>
          <a:custGeom>
            <a:avLst/>
            <a:gdLst/>
            <a:ahLst/>
            <a:cxnLst/>
            <a:rect r="r" b="b" t="t" l="l"/>
            <a:pathLst>
              <a:path h="7242652" w="7242652">
                <a:moveTo>
                  <a:pt x="0" y="0"/>
                </a:moveTo>
                <a:lnTo>
                  <a:pt x="7242652" y="0"/>
                </a:lnTo>
                <a:lnTo>
                  <a:pt x="7242652" y="7242652"/>
                </a:lnTo>
                <a:lnTo>
                  <a:pt x="0" y="724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10293" y="3838332"/>
            <a:ext cx="2431554" cy="2895469"/>
          </a:xfrm>
          <a:custGeom>
            <a:avLst/>
            <a:gdLst/>
            <a:ahLst/>
            <a:cxnLst/>
            <a:rect r="r" b="b" t="t" l="l"/>
            <a:pathLst>
              <a:path h="2895469" w="2431554">
                <a:moveTo>
                  <a:pt x="0" y="0"/>
                </a:moveTo>
                <a:lnTo>
                  <a:pt x="2431554" y="0"/>
                </a:lnTo>
                <a:lnTo>
                  <a:pt x="2431554" y="2895469"/>
                </a:lnTo>
                <a:lnTo>
                  <a:pt x="0" y="2895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11062" y="3767236"/>
            <a:ext cx="1852421" cy="3113313"/>
          </a:xfrm>
          <a:custGeom>
            <a:avLst/>
            <a:gdLst/>
            <a:ahLst/>
            <a:cxnLst/>
            <a:rect r="r" b="b" t="t" l="l"/>
            <a:pathLst>
              <a:path h="3113313" w="1852421">
                <a:moveTo>
                  <a:pt x="0" y="0"/>
                </a:moveTo>
                <a:lnTo>
                  <a:pt x="1852421" y="0"/>
                </a:lnTo>
                <a:lnTo>
                  <a:pt x="1852421" y="3113313"/>
                </a:lnTo>
                <a:lnTo>
                  <a:pt x="0" y="31133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86060" y="3583759"/>
            <a:ext cx="1996718" cy="2989284"/>
          </a:xfrm>
          <a:custGeom>
            <a:avLst/>
            <a:gdLst/>
            <a:ahLst/>
            <a:cxnLst/>
            <a:rect r="r" b="b" t="t" l="l"/>
            <a:pathLst>
              <a:path h="2989284" w="1996718">
                <a:moveTo>
                  <a:pt x="0" y="0"/>
                </a:moveTo>
                <a:lnTo>
                  <a:pt x="1996718" y="0"/>
                </a:lnTo>
                <a:lnTo>
                  <a:pt x="1996718" y="2989283"/>
                </a:lnTo>
                <a:lnTo>
                  <a:pt x="0" y="29892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5304" y="1515357"/>
            <a:ext cx="14318861" cy="970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934"/>
              </a:lnSpc>
            </a:pPr>
            <a:r>
              <a:rPr lang="en-US" b="true" sz="5667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Compute Layer - Virtual Warehouses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9676" y="7841516"/>
            <a:ext cx="3719127" cy="4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2"/>
              </a:lnSpc>
            </a:pPr>
            <a:r>
              <a:rPr lang="en-US" sz="24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Compute Clusters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3683" y="7142412"/>
            <a:ext cx="3791112" cy="58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7"/>
              </a:lnSpc>
            </a:pPr>
            <a:r>
              <a:rPr lang="en-US" b="true" sz="343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Independent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5906" y="7841516"/>
            <a:ext cx="3719127" cy="4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2"/>
              </a:lnSpc>
            </a:pPr>
            <a:r>
              <a:rPr lang="en-US" sz="24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Java, Python, Scala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9913" y="7142412"/>
            <a:ext cx="3791112" cy="58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7"/>
              </a:lnSpc>
            </a:pPr>
            <a:r>
              <a:rPr lang="en-US" b="true" sz="343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&amp; Snowpark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70667" y="7841516"/>
            <a:ext cx="3719127" cy="4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72"/>
              </a:lnSpc>
            </a:pPr>
            <a:r>
              <a:rPr lang="en-US" sz="24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Performance 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4674" y="7142412"/>
            <a:ext cx="3791112" cy="589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7"/>
              </a:lnSpc>
            </a:pPr>
            <a:r>
              <a:rPr lang="en-US" b="true" sz="3433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 Sharing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7719" y="-294256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14326" y="6543974"/>
            <a:ext cx="5428652" cy="5428652"/>
          </a:xfrm>
          <a:custGeom>
            <a:avLst/>
            <a:gdLst/>
            <a:ahLst/>
            <a:cxnLst/>
            <a:rect r="r" b="b" t="t" l="l"/>
            <a:pathLst>
              <a:path h="5428652" w="5428652">
                <a:moveTo>
                  <a:pt x="0" y="0"/>
                </a:moveTo>
                <a:lnTo>
                  <a:pt x="5428652" y="0"/>
                </a:lnTo>
                <a:lnTo>
                  <a:pt x="5428652" y="5428652"/>
                </a:lnTo>
                <a:lnTo>
                  <a:pt x="0" y="5428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342394"/>
            <a:ext cx="4290504" cy="4970298"/>
            <a:chOff x="0" y="0"/>
            <a:chExt cx="1565187" cy="18131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AutoShape 6" id="6"/>
          <p:cNvSpPr/>
          <p:nvPr/>
        </p:nvSpPr>
        <p:spPr>
          <a:xfrm rot="-5400000">
            <a:off x="3930071" y="5631302"/>
            <a:ext cx="37741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225828" y="3342394"/>
            <a:ext cx="4290504" cy="4970298"/>
            <a:chOff x="0" y="0"/>
            <a:chExt cx="1565187" cy="1813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 rot="-5400000">
            <a:off x="9191962" y="5631302"/>
            <a:ext cx="37741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25882" y="6874980"/>
            <a:ext cx="6095177" cy="6095177"/>
          </a:xfrm>
          <a:custGeom>
            <a:avLst/>
            <a:gdLst/>
            <a:ahLst/>
            <a:cxnLst/>
            <a:rect r="r" b="b" t="t" l="l"/>
            <a:pathLst>
              <a:path h="6095177" w="6095177">
                <a:moveTo>
                  <a:pt x="0" y="0"/>
                </a:moveTo>
                <a:lnTo>
                  <a:pt x="6095177" y="0"/>
                </a:lnTo>
                <a:lnTo>
                  <a:pt x="6095177" y="6095177"/>
                </a:lnTo>
                <a:lnTo>
                  <a:pt x="0" y="609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487719" y="3342394"/>
            <a:ext cx="4290504" cy="4970298"/>
            <a:chOff x="0" y="0"/>
            <a:chExt cx="1565187" cy="1813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-320654">
            <a:off x="15023685" y="2224"/>
            <a:ext cx="4471230" cy="2308815"/>
          </a:xfrm>
          <a:custGeom>
            <a:avLst/>
            <a:gdLst/>
            <a:ahLst/>
            <a:cxnLst/>
            <a:rect r="r" b="b" t="t" l="l"/>
            <a:pathLst>
              <a:path h="2308815" w="4471230">
                <a:moveTo>
                  <a:pt x="0" y="0"/>
                </a:moveTo>
                <a:lnTo>
                  <a:pt x="4471230" y="0"/>
                </a:lnTo>
                <a:lnTo>
                  <a:pt x="4471230" y="2308815"/>
                </a:lnTo>
                <a:lnTo>
                  <a:pt x="0" y="2308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65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661459">
            <a:off x="-860948" y="8286627"/>
            <a:ext cx="2778658" cy="2285446"/>
          </a:xfrm>
          <a:custGeom>
            <a:avLst/>
            <a:gdLst/>
            <a:ahLst/>
            <a:cxnLst/>
            <a:rect r="r" b="b" t="t" l="l"/>
            <a:pathLst>
              <a:path h="2285446" w="2778658">
                <a:moveTo>
                  <a:pt x="0" y="0"/>
                </a:moveTo>
                <a:lnTo>
                  <a:pt x="2778658" y="0"/>
                </a:lnTo>
                <a:lnTo>
                  <a:pt x="2778658" y="2285447"/>
                </a:lnTo>
                <a:lnTo>
                  <a:pt x="0" y="2285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8223" y="6543974"/>
            <a:ext cx="7210834" cy="5994006"/>
          </a:xfrm>
          <a:custGeom>
            <a:avLst/>
            <a:gdLst/>
            <a:ahLst/>
            <a:cxnLst/>
            <a:rect r="r" b="b" t="t" l="l"/>
            <a:pathLst>
              <a:path h="5994006" w="7210834">
                <a:moveTo>
                  <a:pt x="0" y="0"/>
                </a:moveTo>
                <a:lnTo>
                  <a:pt x="7210834" y="0"/>
                </a:lnTo>
                <a:lnTo>
                  <a:pt x="7210834" y="5994006"/>
                </a:lnTo>
                <a:lnTo>
                  <a:pt x="0" y="5994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14400"/>
            <a:ext cx="7119102" cy="190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77"/>
              </a:lnSpc>
            </a:pPr>
            <a:r>
              <a:rPr lang="en-US" b="true" sz="541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Cloud Services Layer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0371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Security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0371" y="5125720"/>
            <a:ext cx="2991261" cy="137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Authentication &amp; access control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Role-based permissions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encryption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Regulatory compliance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7500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Metadata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7500" y="5105400"/>
            <a:ext cx="2677210" cy="137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SNOWFLAKE database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Information Schema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Object catalog management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Statistics tracking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97843" y="5125720"/>
            <a:ext cx="3670257" cy="110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Query parsing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Query optimization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Infrastructure mgmt</a:t>
            </a:r>
          </a:p>
          <a:p>
            <a:pPr algn="l" marL="0" indent="0" lvl="0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Cloud compute instances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51104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Query &amp; Infra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71137" y="594816"/>
            <a:ext cx="7465233" cy="7465233"/>
          </a:xfrm>
          <a:custGeom>
            <a:avLst/>
            <a:gdLst/>
            <a:ahLst/>
            <a:cxnLst/>
            <a:rect r="r" b="b" t="t" l="l"/>
            <a:pathLst>
              <a:path h="7465233" w="7465233">
                <a:moveTo>
                  <a:pt x="0" y="0"/>
                </a:moveTo>
                <a:lnTo>
                  <a:pt x="7465233" y="0"/>
                </a:lnTo>
                <a:lnTo>
                  <a:pt x="7465233" y="7465233"/>
                </a:lnTo>
                <a:lnTo>
                  <a:pt x="0" y="7465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1164" y="3973154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6" y="0"/>
                </a:lnTo>
                <a:lnTo>
                  <a:pt x="9218676" y="9218676"/>
                </a:lnTo>
                <a:lnTo>
                  <a:pt x="0" y="9218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224964" y="4105113"/>
            <a:ext cx="11475480" cy="11475480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98107" y="7249562"/>
            <a:ext cx="3216307" cy="1145809"/>
          </a:xfrm>
          <a:custGeom>
            <a:avLst/>
            <a:gdLst/>
            <a:ahLst/>
            <a:cxnLst/>
            <a:rect r="r" b="b" t="t" l="l"/>
            <a:pathLst>
              <a:path h="1145809" w="3216307">
                <a:moveTo>
                  <a:pt x="0" y="0"/>
                </a:moveTo>
                <a:lnTo>
                  <a:pt x="3216307" y="0"/>
                </a:lnTo>
                <a:lnTo>
                  <a:pt x="3216307" y="1145809"/>
                </a:lnTo>
                <a:lnTo>
                  <a:pt x="0" y="114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77851" y="1526033"/>
            <a:ext cx="12132298" cy="74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2"/>
              </a:lnSpc>
            </a:pPr>
            <a:r>
              <a:rPr lang="en-US" b="true" sz="431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Integrated Features for Data Engineering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5847" y="3862518"/>
            <a:ext cx="3216307" cy="1145809"/>
          </a:xfrm>
          <a:custGeom>
            <a:avLst/>
            <a:gdLst/>
            <a:ahLst/>
            <a:cxnLst/>
            <a:rect r="r" b="b" t="t" l="l"/>
            <a:pathLst>
              <a:path h="1145809" w="3216307">
                <a:moveTo>
                  <a:pt x="0" y="0"/>
                </a:moveTo>
                <a:lnTo>
                  <a:pt x="3216306" y="0"/>
                </a:lnTo>
                <a:lnTo>
                  <a:pt x="3216306" y="1145809"/>
                </a:lnTo>
                <a:lnTo>
                  <a:pt x="0" y="114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72667" y="7249562"/>
            <a:ext cx="3216307" cy="1145809"/>
          </a:xfrm>
          <a:custGeom>
            <a:avLst/>
            <a:gdLst/>
            <a:ahLst/>
            <a:cxnLst/>
            <a:rect r="r" b="b" t="t" l="l"/>
            <a:pathLst>
              <a:path h="1145809" w="3216307">
                <a:moveTo>
                  <a:pt x="0" y="0"/>
                </a:moveTo>
                <a:lnTo>
                  <a:pt x="3216307" y="0"/>
                </a:lnTo>
                <a:lnTo>
                  <a:pt x="3216307" y="1145809"/>
                </a:lnTo>
                <a:lnTo>
                  <a:pt x="0" y="114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195193" y="-4864633"/>
            <a:ext cx="9729266" cy="9729266"/>
          </a:xfrm>
          <a:custGeom>
            <a:avLst/>
            <a:gdLst/>
            <a:ahLst/>
            <a:cxnLst/>
            <a:rect r="r" b="b" t="t" l="l"/>
            <a:pathLst>
              <a:path h="9729266" w="9729266">
                <a:moveTo>
                  <a:pt x="0" y="0"/>
                </a:moveTo>
                <a:lnTo>
                  <a:pt x="9729267" y="0"/>
                </a:lnTo>
                <a:lnTo>
                  <a:pt x="9729267" y="9729266"/>
                </a:lnTo>
                <a:lnTo>
                  <a:pt x="0" y="9729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344677">
            <a:off x="-601317" y="-765449"/>
            <a:ext cx="3931712" cy="3264377"/>
          </a:xfrm>
          <a:custGeom>
            <a:avLst/>
            <a:gdLst/>
            <a:ahLst/>
            <a:cxnLst/>
            <a:rect r="r" b="b" t="t" l="l"/>
            <a:pathLst>
              <a:path h="3264377" w="3931712">
                <a:moveTo>
                  <a:pt x="0" y="0"/>
                </a:moveTo>
                <a:lnTo>
                  <a:pt x="3931712" y="0"/>
                </a:lnTo>
                <a:lnTo>
                  <a:pt x="3931712" y="3264378"/>
                </a:lnTo>
                <a:lnTo>
                  <a:pt x="0" y="32643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439409" y="1325047"/>
            <a:ext cx="5247822" cy="6608714"/>
          </a:xfrm>
          <a:custGeom>
            <a:avLst/>
            <a:gdLst/>
            <a:ahLst/>
            <a:cxnLst/>
            <a:rect r="r" b="b" t="t" l="l"/>
            <a:pathLst>
              <a:path h="6608714" w="5247822">
                <a:moveTo>
                  <a:pt x="0" y="0"/>
                </a:moveTo>
                <a:lnTo>
                  <a:pt x="5247822" y="0"/>
                </a:lnTo>
                <a:lnTo>
                  <a:pt x="5247822" y="6608714"/>
                </a:lnTo>
                <a:lnTo>
                  <a:pt x="0" y="66087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576620" y="5919292"/>
            <a:ext cx="6983344" cy="6896052"/>
          </a:xfrm>
          <a:custGeom>
            <a:avLst/>
            <a:gdLst/>
            <a:ahLst/>
            <a:cxnLst/>
            <a:rect r="r" b="b" t="t" l="l"/>
            <a:pathLst>
              <a:path h="6896052" w="6983344">
                <a:moveTo>
                  <a:pt x="0" y="0"/>
                </a:moveTo>
                <a:lnTo>
                  <a:pt x="6983344" y="0"/>
                </a:lnTo>
                <a:lnTo>
                  <a:pt x="6983344" y="6896051"/>
                </a:lnTo>
                <a:lnTo>
                  <a:pt x="0" y="68960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79403" y="7591719"/>
            <a:ext cx="2853714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5"/>
              </a:lnSpc>
              <a:spcBef>
                <a:spcPct val="0"/>
              </a:spcBef>
            </a:pPr>
            <a:r>
              <a:rPr lang="en-US" b="true" sz="2454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Ingestion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17143" y="4204675"/>
            <a:ext cx="2853714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5"/>
              </a:lnSpc>
              <a:spcBef>
                <a:spcPct val="0"/>
              </a:spcBef>
            </a:pPr>
            <a:r>
              <a:rPr lang="en-US" b="true" sz="2454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Transformation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3964" y="7591719"/>
            <a:ext cx="2853714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5"/>
              </a:lnSpc>
              <a:spcBef>
                <a:spcPct val="0"/>
              </a:spcBef>
            </a:pPr>
            <a:r>
              <a:rPr lang="en-US" b="true" sz="2454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Tools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9496" y="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81976" y="-1991669"/>
            <a:ext cx="7242652" cy="7242652"/>
          </a:xfrm>
          <a:custGeom>
            <a:avLst/>
            <a:gdLst/>
            <a:ahLst/>
            <a:cxnLst/>
            <a:rect r="r" b="b" t="t" l="l"/>
            <a:pathLst>
              <a:path h="7242652" w="7242652">
                <a:moveTo>
                  <a:pt x="0" y="0"/>
                </a:moveTo>
                <a:lnTo>
                  <a:pt x="7242652" y="0"/>
                </a:lnTo>
                <a:lnTo>
                  <a:pt x="7242652" y="7242652"/>
                </a:lnTo>
                <a:lnTo>
                  <a:pt x="0" y="724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38847" y="3519397"/>
            <a:ext cx="3099222" cy="2908055"/>
          </a:xfrm>
          <a:custGeom>
            <a:avLst/>
            <a:gdLst/>
            <a:ahLst/>
            <a:cxnLst/>
            <a:rect r="r" b="b" t="t" l="l"/>
            <a:pathLst>
              <a:path h="2908055" w="3099222">
                <a:moveTo>
                  <a:pt x="0" y="0"/>
                </a:moveTo>
                <a:lnTo>
                  <a:pt x="3099221" y="0"/>
                </a:lnTo>
                <a:lnTo>
                  <a:pt x="3099221" y="2908055"/>
                </a:lnTo>
                <a:lnTo>
                  <a:pt x="0" y="29080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34767" y="3878814"/>
            <a:ext cx="2606047" cy="2844628"/>
          </a:xfrm>
          <a:custGeom>
            <a:avLst/>
            <a:gdLst/>
            <a:ahLst/>
            <a:cxnLst/>
            <a:rect r="r" b="b" t="t" l="l"/>
            <a:pathLst>
              <a:path h="2844628" w="2606047">
                <a:moveTo>
                  <a:pt x="0" y="0"/>
                </a:moveTo>
                <a:lnTo>
                  <a:pt x="2606046" y="0"/>
                </a:lnTo>
                <a:lnTo>
                  <a:pt x="2606046" y="2844629"/>
                </a:lnTo>
                <a:lnTo>
                  <a:pt x="0" y="2844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885129" y="3291525"/>
            <a:ext cx="3404200" cy="3414531"/>
          </a:xfrm>
          <a:custGeom>
            <a:avLst/>
            <a:gdLst/>
            <a:ahLst/>
            <a:cxnLst/>
            <a:rect r="r" b="b" t="t" l="l"/>
            <a:pathLst>
              <a:path h="3414531" w="3404200">
                <a:moveTo>
                  <a:pt x="0" y="0"/>
                </a:moveTo>
                <a:lnTo>
                  <a:pt x="3404199" y="0"/>
                </a:lnTo>
                <a:lnTo>
                  <a:pt x="3404199" y="3414531"/>
                </a:lnTo>
                <a:lnTo>
                  <a:pt x="0" y="34145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5304" y="1458207"/>
            <a:ext cx="14318861" cy="1533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584"/>
              </a:lnSpc>
            </a:pPr>
            <a:r>
              <a:rPr lang="en-US" b="true" sz="898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Analytics Capabilities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9676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Aggregate &amp; Window Functions, CTEs for advanced query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3683" y="7142412"/>
            <a:ext cx="3791112" cy="60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92"/>
              </a:lnSpc>
            </a:pPr>
            <a:r>
              <a:rPr lang="en-US" b="true" sz="356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5906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LLM-powered functions for unstructured text &amp; image data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9913" y="7142412"/>
            <a:ext cx="3791112" cy="60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92"/>
              </a:lnSpc>
            </a:pPr>
            <a:r>
              <a:rPr lang="en-US" b="true" sz="356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Cortex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70667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concept modeling &amp; governed metric definitions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4674" y="7142412"/>
            <a:ext cx="3791112" cy="60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92"/>
              </a:lnSpc>
            </a:pPr>
            <a:r>
              <a:rPr lang="en-US" b="true" sz="356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Semantic Views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971137" y="594816"/>
            <a:ext cx="7465233" cy="7465233"/>
          </a:xfrm>
          <a:custGeom>
            <a:avLst/>
            <a:gdLst/>
            <a:ahLst/>
            <a:cxnLst/>
            <a:rect r="r" b="b" t="t" l="l"/>
            <a:pathLst>
              <a:path h="7465233" w="7465233">
                <a:moveTo>
                  <a:pt x="0" y="0"/>
                </a:moveTo>
                <a:lnTo>
                  <a:pt x="7465233" y="0"/>
                </a:lnTo>
                <a:lnTo>
                  <a:pt x="7465233" y="7465233"/>
                </a:lnTo>
                <a:lnTo>
                  <a:pt x="0" y="74652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1164" y="3973154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6" y="0"/>
                </a:lnTo>
                <a:lnTo>
                  <a:pt x="9218676" y="9218676"/>
                </a:lnTo>
                <a:lnTo>
                  <a:pt x="0" y="9218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3224964" y="4105113"/>
            <a:ext cx="11475480" cy="11475480"/>
            <a:chOff x="0" y="0"/>
            <a:chExt cx="6355080" cy="6355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5080" cy="6355080"/>
            </a:xfrm>
            <a:custGeom>
              <a:avLst/>
              <a:gdLst/>
              <a:ahLst/>
              <a:cxnLst/>
              <a:rect r="r" b="b" t="t" l="l"/>
              <a:pathLst>
                <a:path h="6355080" w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98107" y="7249562"/>
            <a:ext cx="3216307" cy="1145809"/>
          </a:xfrm>
          <a:custGeom>
            <a:avLst/>
            <a:gdLst/>
            <a:ahLst/>
            <a:cxnLst/>
            <a:rect r="r" b="b" t="t" l="l"/>
            <a:pathLst>
              <a:path h="1145809" w="3216307">
                <a:moveTo>
                  <a:pt x="0" y="0"/>
                </a:moveTo>
                <a:lnTo>
                  <a:pt x="3216307" y="0"/>
                </a:lnTo>
                <a:lnTo>
                  <a:pt x="3216307" y="1145809"/>
                </a:lnTo>
                <a:lnTo>
                  <a:pt x="0" y="114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077851" y="1478408"/>
            <a:ext cx="12132298" cy="117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62"/>
              </a:lnSpc>
            </a:pPr>
            <a:r>
              <a:rPr lang="en-US" b="true" sz="6758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AI and Machine Learning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535847" y="3862518"/>
            <a:ext cx="3216307" cy="1145809"/>
          </a:xfrm>
          <a:custGeom>
            <a:avLst/>
            <a:gdLst/>
            <a:ahLst/>
            <a:cxnLst/>
            <a:rect r="r" b="b" t="t" l="l"/>
            <a:pathLst>
              <a:path h="1145809" w="3216307">
                <a:moveTo>
                  <a:pt x="0" y="0"/>
                </a:moveTo>
                <a:lnTo>
                  <a:pt x="3216306" y="0"/>
                </a:lnTo>
                <a:lnTo>
                  <a:pt x="3216306" y="1145809"/>
                </a:lnTo>
                <a:lnTo>
                  <a:pt x="0" y="114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72667" y="7249562"/>
            <a:ext cx="3216307" cy="1145809"/>
          </a:xfrm>
          <a:custGeom>
            <a:avLst/>
            <a:gdLst/>
            <a:ahLst/>
            <a:cxnLst/>
            <a:rect r="r" b="b" t="t" l="l"/>
            <a:pathLst>
              <a:path h="1145809" w="3216307">
                <a:moveTo>
                  <a:pt x="0" y="0"/>
                </a:moveTo>
                <a:lnTo>
                  <a:pt x="3216307" y="0"/>
                </a:lnTo>
                <a:lnTo>
                  <a:pt x="3216307" y="1145809"/>
                </a:lnTo>
                <a:lnTo>
                  <a:pt x="0" y="1145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195193" y="-4864633"/>
            <a:ext cx="9729266" cy="9729266"/>
          </a:xfrm>
          <a:custGeom>
            <a:avLst/>
            <a:gdLst/>
            <a:ahLst/>
            <a:cxnLst/>
            <a:rect r="r" b="b" t="t" l="l"/>
            <a:pathLst>
              <a:path h="9729266" w="9729266">
                <a:moveTo>
                  <a:pt x="0" y="0"/>
                </a:moveTo>
                <a:lnTo>
                  <a:pt x="9729267" y="0"/>
                </a:lnTo>
                <a:lnTo>
                  <a:pt x="9729267" y="9729266"/>
                </a:lnTo>
                <a:lnTo>
                  <a:pt x="0" y="9729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0344677">
            <a:off x="-588029" y="-883179"/>
            <a:ext cx="3952602" cy="3371936"/>
          </a:xfrm>
          <a:custGeom>
            <a:avLst/>
            <a:gdLst/>
            <a:ahLst/>
            <a:cxnLst/>
            <a:rect r="r" b="b" t="t" l="l"/>
            <a:pathLst>
              <a:path h="3371936" w="3952602">
                <a:moveTo>
                  <a:pt x="0" y="0"/>
                </a:moveTo>
                <a:lnTo>
                  <a:pt x="3952602" y="0"/>
                </a:lnTo>
                <a:lnTo>
                  <a:pt x="3952602" y="3371936"/>
                </a:lnTo>
                <a:lnTo>
                  <a:pt x="0" y="3371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585845" y="1919306"/>
            <a:ext cx="5609593" cy="5223934"/>
          </a:xfrm>
          <a:custGeom>
            <a:avLst/>
            <a:gdLst/>
            <a:ahLst/>
            <a:cxnLst/>
            <a:rect r="r" b="b" t="t" l="l"/>
            <a:pathLst>
              <a:path h="5223934" w="5609593">
                <a:moveTo>
                  <a:pt x="0" y="0"/>
                </a:moveTo>
                <a:lnTo>
                  <a:pt x="5609593" y="0"/>
                </a:lnTo>
                <a:lnTo>
                  <a:pt x="5609593" y="5223934"/>
                </a:lnTo>
                <a:lnTo>
                  <a:pt x="0" y="52239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67501" y="6068589"/>
            <a:ext cx="6332498" cy="6385638"/>
          </a:xfrm>
          <a:custGeom>
            <a:avLst/>
            <a:gdLst/>
            <a:ahLst/>
            <a:cxnLst/>
            <a:rect r="r" b="b" t="t" l="l"/>
            <a:pathLst>
              <a:path h="6385638" w="6332498">
                <a:moveTo>
                  <a:pt x="0" y="0"/>
                </a:moveTo>
                <a:lnTo>
                  <a:pt x="6332498" y="0"/>
                </a:lnTo>
                <a:lnTo>
                  <a:pt x="6332498" y="6385638"/>
                </a:lnTo>
                <a:lnTo>
                  <a:pt x="0" y="63856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979403" y="7591719"/>
            <a:ext cx="2853714" cy="39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5"/>
              </a:lnSpc>
              <a:spcBef>
                <a:spcPct val="0"/>
              </a:spcBef>
            </a:pPr>
            <a:r>
              <a:rPr lang="en-US" b="true" sz="2261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 Data Movement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17143" y="4204675"/>
            <a:ext cx="2853714" cy="39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5"/>
              </a:lnSpc>
              <a:spcBef>
                <a:spcPct val="0"/>
              </a:spcBef>
            </a:pPr>
            <a:r>
              <a:rPr lang="en-US" b="true" sz="2261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Snowflake Cortex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3964" y="7591719"/>
            <a:ext cx="2853714" cy="39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5"/>
              </a:lnSpc>
              <a:spcBef>
                <a:spcPct val="0"/>
              </a:spcBef>
            </a:pPr>
            <a:r>
              <a:rPr lang="en-US" b="true" sz="2261">
                <a:solidFill>
                  <a:srgbClr val="01204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Snowflake ML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87719" y="-294256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14326" y="6543974"/>
            <a:ext cx="5428652" cy="5428652"/>
          </a:xfrm>
          <a:custGeom>
            <a:avLst/>
            <a:gdLst/>
            <a:ahLst/>
            <a:cxnLst/>
            <a:rect r="r" b="b" t="t" l="l"/>
            <a:pathLst>
              <a:path h="5428652" w="5428652">
                <a:moveTo>
                  <a:pt x="0" y="0"/>
                </a:moveTo>
                <a:lnTo>
                  <a:pt x="5428652" y="0"/>
                </a:lnTo>
                <a:lnTo>
                  <a:pt x="5428652" y="5428652"/>
                </a:lnTo>
                <a:lnTo>
                  <a:pt x="0" y="5428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3342394"/>
            <a:ext cx="4290504" cy="4970298"/>
            <a:chOff x="0" y="0"/>
            <a:chExt cx="1565187" cy="18131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AutoShape 6" id="6"/>
          <p:cNvSpPr/>
          <p:nvPr/>
        </p:nvSpPr>
        <p:spPr>
          <a:xfrm rot="-5400000">
            <a:off x="3930071" y="5631302"/>
            <a:ext cx="37741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6225828" y="3342394"/>
            <a:ext cx="4290504" cy="4970298"/>
            <a:chOff x="0" y="0"/>
            <a:chExt cx="1565187" cy="1813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 rot="-5400000">
            <a:off x="9191962" y="5631302"/>
            <a:ext cx="3774193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4925882" y="6874980"/>
            <a:ext cx="6095177" cy="6095177"/>
          </a:xfrm>
          <a:custGeom>
            <a:avLst/>
            <a:gdLst/>
            <a:ahLst/>
            <a:cxnLst/>
            <a:rect r="r" b="b" t="t" l="l"/>
            <a:pathLst>
              <a:path h="6095177" w="6095177">
                <a:moveTo>
                  <a:pt x="0" y="0"/>
                </a:moveTo>
                <a:lnTo>
                  <a:pt x="6095177" y="0"/>
                </a:lnTo>
                <a:lnTo>
                  <a:pt x="6095177" y="6095177"/>
                </a:lnTo>
                <a:lnTo>
                  <a:pt x="0" y="609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1487719" y="3342394"/>
            <a:ext cx="4290504" cy="4970298"/>
            <a:chOff x="0" y="0"/>
            <a:chExt cx="1565187" cy="1813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65188" cy="1813178"/>
            </a:xfrm>
            <a:custGeom>
              <a:avLst/>
              <a:gdLst/>
              <a:ahLst/>
              <a:cxnLst/>
              <a:rect r="r" b="b" t="t" l="l"/>
              <a:pathLst>
                <a:path h="1813178" w="1565188">
                  <a:moveTo>
                    <a:pt x="1440727" y="1813178"/>
                  </a:moveTo>
                  <a:lnTo>
                    <a:pt x="124460" y="1813178"/>
                  </a:lnTo>
                  <a:cubicBezTo>
                    <a:pt x="55880" y="1813178"/>
                    <a:pt x="0" y="1757298"/>
                    <a:pt x="0" y="16887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440727" y="0"/>
                  </a:lnTo>
                  <a:cubicBezTo>
                    <a:pt x="1509307" y="0"/>
                    <a:pt x="1565188" y="55880"/>
                    <a:pt x="1565188" y="124460"/>
                  </a:cubicBezTo>
                  <a:lnTo>
                    <a:pt x="1565188" y="1688718"/>
                  </a:lnTo>
                  <a:cubicBezTo>
                    <a:pt x="1565188" y="1757298"/>
                    <a:pt x="1509307" y="1813178"/>
                    <a:pt x="1440727" y="1813178"/>
                  </a:cubicBezTo>
                  <a:close/>
                </a:path>
              </a:pathLst>
            </a:custGeom>
            <a:solidFill>
              <a:srgbClr val="2D2F30">
                <a:alpha val="30980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-320654">
            <a:off x="15023685" y="2224"/>
            <a:ext cx="4471230" cy="2308815"/>
          </a:xfrm>
          <a:custGeom>
            <a:avLst/>
            <a:gdLst/>
            <a:ahLst/>
            <a:cxnLst/>
            <a:rect r="r" b="b" t="t" l="l"/>
            <a:pathLst>
              <a:path h="2308815" w="4471230">
                <a:moveTo>
                  <a:pt x="0" y="0"/>
                </a:moveTo>
                <a:lnTo>
                  <a:pt x="4471230" y="0"/>
                </a:lnTo>
                <a:lnTo>
                  <a:pt x="4471230" y="2308815"/>
                </a:lnTo>
                <a:lnTo>
                  <a:pt x="0" y="23088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565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4661459">
            <a:off x="-860948" y="8286627"/>
            <a:ext cx="2778658" cy="2285446"/>
          </a:xfrm>
          <a:custGeom>
            <a:avLst/>
            <a:gdLst/>
            <a:ahLst/>
            <a:cxnLst/>
            <a:rect r="r" b="b" t="t" l="l"/>
            <a:pathLst>
              <a:path h="2285446" w="2778658">
                <a:moveTo>
                  <a:pt x="0" y="0"/>
                </a:moveTo>
                <a:lnTo>
                  <a:pt x="2778658" y="0"/>
                </a:lnTo>
                <a:lnTo>
                  <a:pt x="2778658" y="2285447"/>
                </a:lnTo>
                <a:lnTo>
                  <a:pt x="0" y="22854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778223" y="6543974"/>
            <a:ext cx="7210834" cy="5994006"/>
          </a:xfrm>
          <a:custGeom>
            <a:avLst/>
            <a:gdLst/>
            <a:ahLst/>
            <a:cxnLst/>
            <a:rect r="r" b="b" t="t" l="l"/>
            <a:pathLst>
              <a:path h="5994006" w="7210834">
                <a:moveTo>
                  <a:pt x="0" y="0"/>
                </a:moveTo>
                <a:lnTo>
                  <a:pt x="7210834" y="0"/>
                </a:lnTo>
                <a:lnTo>
                  <a:pt x="7210834" y="5994006"/>
                </a:lnTo>
                <a:lnTo>
                  <a:pt x="0" y="5994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914400"/>
            <a:ext cx="7119102" cy="190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77"/>
              </a:lnSpc>
            </a:pPr>
            <a:r>
              <a:rPr lang="en-US" b="true" sz="5412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Applications &amp; Collaboration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0371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Apps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0371" y="5135245"/>
            <a:ext cx="2991261" cy="1367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Streamlit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 web apps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Snowpark Container Services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Containerized deployment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Native App Framework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 development &amp; sharing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67500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Collaboration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67500" y="5114925"/>
            <a:ext cx="2677210" cy="91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Secure Data Sharing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Marketplace Listings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Cross-org data access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Governance &amp; controls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97843" y="5135245"/>
            <a:ext cx="3670257" cy="910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Clean Rooms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Secure collaboration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Privacy-preserving analysis</a:t>
            </a:r>
          </a:p>
          <a:p>
            <a:pPr algn="l" marL="0" indent="0" lvl="0">
              <a:lnSpc>
                <a:spcPts val="1816"/>
              </a:lnSpc>
            </a:pPr>
            <a:r>
              <a:rPr lang="en-US" sz="129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raw data exposure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51104" y="3798228"/>
            <a:ext cx="2598564" cy="455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</a:pPr>
            <a:r>
              <a:rPr lang="en-US" b="true" sz="2646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Privacy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79496" y="0"/>
            <a:ext cx="8996085" cy="8996085"/>
          </a:xfrm>
          <a:custGeom>
            <a:avLst/>
            <a:gdLst/>
            <a:ahLst/>
            <a:cxnLst/>
            <a:rect r="r" b="b" t="t" l="l"/>
            <a:pathLst>
              <a:path h="8996085" w="8996085">
                <a:moveTo>
                  <a:pt x="0" y="0"/>
                </a:moveTo>
                <a:lnTo>
                  <a:pt x="8996085" y="0"/>
                </a:lnTo>
                <a:lnTo>
                  <a:pt x="8996085" y="8996085"/>
                </a:lnTo>
                <a:lnTo>
                  <a:pt x="0" y="89960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881976" y="-1991669"/>
            <a:ext cx="7242652" cy="7242652"/>
          </a:xfrm>
          <a:custGeom>
            <a:avLst/>
            <a:gdLst/>
            <a:ahLst/>
            <a:cxnLst/>
            <a:rect r="r" b="b" t="t" l="l"/>
            <a:pathLst>
              <a:path h="7242652" w="7242652">
                <a:moveTo>
                  <a:pt x="0" y="0"/>
                </a:moveTo>
                <a:lnTo>
                  <a:pt x="7242652" y="0"/>
                </a:lnTo>
                <a:lnTo>
                  <a:pt x="7242652" y="7242652"/>
                </a:lnTo>
                <a:lnTo>
                  <a:pt x="0" y="724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6928" y="3912577"/>
            <a:ext cx="4042798" cy="2359983"/>
          </a:xfrm>
          <a:custGeom>
            <a:avLst/>
            <a:gdLst/>
            <a:ahLst/>
            <a:cxnLst/>
            <a:rect r="r" b="b" t="t" l="l"/>
            <a:pathLst>
              <a:path h="2359983" w="4042798">
                <a:moveTo>
                  <a:pt x="0" y="0"/>
                </a:moveTo>
                <a:lnTo>
                  <a:pt x="4042797" y="0"/>
                </a:lnTo>
                <a:lnTo>
                  <a:pt x="4042797" y="2359983"/>
                </a:lnTo>
                <a:lnTo>
                  <a:pt x="0" y="2359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34644" y="3808299"/>
            <a:ext cx="2603494" cy="3182048"/>
          </a:xfrm>
          <a:custGeom>
            <a:avLst/>
            <a:gdLst/>
            <a:ahLst/>
            <a:cxnLst/>
            <a:rect r="r" b="b" t="t" l="l"/>
            <a:pathLst>
              <a:path h="3182048" w="2603494">
                <a:moveTo>
                  <a:pt x="0" y="0"/>
                </a:moveTo>
                <a:lnTo>
                  <a:pt x="2603494" y="0"/>
                </a:lnTo>
                <a:lnTo>
                  <a:pt x="2603494" y="3182049"/>
                </a:lnTo>
                <a:lnTo>
                  <a:pt x="0" y="31820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38156" y="4054711"/>
            <a:ext cx="1889331" cy="1883095"/>
          </a:xfrm>
          <a:custGeom>
            <a:avLst/>
            <a:gdLst/>
            <a:ahLst/>
            <a:cxnLst/>
            <a:rect r="r" b="b" t="t" l="l"/>
            <a:pathLst>
              <a:path h="1883095" w="1889331">
                <a:moveTo>
                  <a:pt x="0" y="0"/>
                </a:moveTo>
                <a:lnTo>
                  <a:pt x="1889331" y="0"/>
                </a:lnTo>
                <a:lnTo>
                  <a:pt x="1889331" y="1883095"/>
                </a:lnTo>
                <a:lnTo>
                  <a:pt x="0" y="18830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35304" y="1515357"/>
            <a:ext cx="14318861" cy="937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48"/>
              </a:lnSpc>
            </a:pPr>
            <a:r>
              <a:rPr lang="en-US" b="true" sz="5463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Snowgrid - Cross-Cloud Connectivity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9676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Connect data ecosystems across AWS, Azure &amp; GCP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3683" y="7132887"/>
            <a:ext cx="3791112" cy="71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6"/>
              </a:lnSpc>
            </a:pPr>
            <a:r>
              <a:rPr lang="en-US" b="true" sz="42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Multi-Cloud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5906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Apply consistent security &amp; governance policies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49913" y="7132887"/>
            <a:ext cx="3791112" cy="71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6"/>
              </a:lnSpc>
            </a:pPr>
            <a:r>
              <a:rPr lang="en-US" b="true" sz="42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Governance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70667" y="7851041"/>
            <a:ext cx="3719127" cy="424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34"/>
              </a:lnSpc>
            </a:pPr>
            <a:r>
              <a:rPr lang="en-US" sz="123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Enable disaster recovery &amp; business continuity via replication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34674" y="7132887"/>
            <a:ext cx="3791112" cy="712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6"/>
              </a:lnSpc>
            </a:pPr>
            <a:r>
              <a:rPr lang="en-US" b="true" sz="420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Resilience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78214" y="-4882840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6" y="0"/>
                </a:lnTo>
                <a:lnTo>
                  <a:pt x="9218676" y="9218677"/>
                </a:lnTo>
                <a:lnTo>
                  <a:pt x="0" y="9218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0443" y="-1551311"/>
            <a:ext cx="8685325" cy="8685325"/>
          </a:xfrm>
          <a:custGeom>
            <a:avLst/>
            <a:gdLst/>
            <a:ahLst/>
            <a:cxnLst/>
            <a:rect r="r" b="b" t="t" l="l"/>
            <a:pathLst>
              <a:path h="8685325" w="8685325">
                <a:moveTo>
                  <a:pt x="0" y="0"/>
                </a:moveTo>
                <a:lnTo>
                  <a:pt x="8685326" y="0"/>
                </a:lnTo>
                <a:lnTo>
                  <a:pt x="8685326" y="8685325"/>
                </a:lnTo>
                <a:lnTo>
                  <a:pt x="0" y="868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47802" y="4806269"/>
            <a:ext cx="9218676" cy="9218676"/>
          </a:xfrm>
          <a:custGeom>
            <a:avLst/>
            <a:gdLst/>
            <a:ahLst/>
            <a:cxnLst/>
            <a:rect r="r" b="b" t="t" l="l"/>
            <a:pathLst>
              <a:path h="9218676" w="9218676">
                <a:moveTo>
                  <a:pt x="0" y="0"/>
                </a:moveTo>
                <a:lnTo>
                  <a:pt x="9218677" y="0"/>
                </a:lnTo>
                <a:lnTo>
                  <a:pt x="9218677" y="9218676"/>
                </a:lnTo>
                <a:lnTo>
                  <a:pt x="0" y="92186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99438" y="7474099"/>
            <a:ext cx="8685325" cy="8685325"/>
          </a:xfrm>
          <a:custGeom>
            <a:avLst/>
            <a:gdLst/>
            <a:ahLst/>
            <a:cxnLst/>
            <a:rect r="r" b="b" t="t" l="l"/>
            <a:pathLst>
              <a:path h="8685325" w="8685325">
                <a:moveTo>
                  <a:pt x="0" y="0"/>
                </a:moveTo>
                <a:lnTo>
                  <a:pt x="8685326" y="0"/>
                </a:lnTo>
                <a:lnTo>
                  <a:pt x="8685326" y="8685325"/>
                </a:lnTo>
                <a:lnTo>
                  <a:pt x="0" y="868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869971" y="8535586"/>
            <a:ext cx="2778658" cy="2285446"/>
          </a:xfrm>
          <a:custGeom>
            <a:avLst/>
            <a:gdLst/>
            <a:ahLst/>
            <a:cxnLst/>
            <a:rect r="r" b="b" t="t" l="l"/>
            <a:pathLst>
              <a:path h="2285446" w="2778658">
                <a:moveTo>
                  <a:pt x="0" y="0"/>
                </a:moveTo>
                <a:lnTo>
                  <a:pt x="2778658" y="0"/>
                </a:lnTo>
                <a:lnTo>
                  <a:pt x="2778658" y="2285447"/>
                </a:lnTo>
                <a:lnTo>
                  <a:pt x="0" y="22854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020057" y="-2331083"/>
            <a:ext cx="4903845" cy="5636604"/>
          </a:xfrm>
          <a:custGeom>
            <a:avLst/>
            <a:gdLst/>
            <a:ahLst/>
            <a:cxnLst/>
            <a:rect r="r" b="b" t="t" l="l"/>
            <a:pathLst>
              <a:path h="5636604" w="4903845">
                <a:moveTo>
                  <a:pt x="4903845" y="0"/>
                </a:moveTo>
                <a:lnTo>
                  <a:pt x="0" y="0"/>
                </a:lnTo>
                <a:lnTo>
                  <a:pt x="0" y="5636604"/>
                </a:lnTo>
                <a:lnTo>
                  <a:pt x="4903845" y="5636604"/>
                </a:lnTo>
                <a:lnTo>
                  <a:pt x="4903845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38930" y="2134307"/>
            <a:ext cx="11130050" cy="1105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17"/>
              </a:lnSpc>
            </a:pPr>
            <a:r>
              <a:rPr lang="en-US" b="true" sz="6369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Connecting to Snowflake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0107" y="3588163"/>
            <a:ext cx="11887695" cy="374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52"/>
              </a:lnSpc>
            </a:pPr>
            <a:r>
              <a:rPr lang="en-US" sz="31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Snowsight web UI and Snowflake CLI (command-line client)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Native APIs: Python API and REST API for programmatic access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Drivers: JDBC and ODBC for standard database connectivity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Native connectors: Apache Kafka, Apache Spark via Snowpark</a:t>
            </a:r>
          </a:p>
          <a:p>
            <a:pPr algn="l" marL="0" indent="0" lvl="0">
              <a:lnSpc>
                <a:spcPts val="4352"/>
              </a:lnSpc>
            </a:pPr>
            <a:r>
              <a:rPr lang="en-US" sz="31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Third-party tools: Informatica, ThoughtSpot, and more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20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54044" y="1024236"/>
            <a:ext cx="6896632" cy="6896632"/>
          </a:xfrm>
          <a:custGeom>
            <a:avLst/>
            <a:gdLst/>
            <a:ahLst/>
            <a:cxnLst/>
            <a:rect r="r" b="b" t="t" l="l"/>
            <a:pathLst>
              <a:path h="6896632" w="6896632">
                <a:moveTo>
                  <a:pt x="0" y="0"/>
                </a:moveTo>
                <a:lnTo>
                  <a:pt x="6896633" y="0"/>
                </a:lnTo>
                <a:lnTo>
                  <a:pt x="6896633" y="6896632"/>
                </a:lnTo>
                <a:lnTo>
                  <a:pt x="0" y="6896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31439" y="3191290"/>
            <a:ext cx="8086060" cy="8086060"/>
          </a:xfrm>
          <a:custGeom>
            <a:avLst/>
            <a:gdLst/>
            <a:ahLst/>
            <a:cxnLst/>
            <a:rect r="r" b="b" t="t" l="l"/>
            <a:pathLst>
              <a:path h="8086060" w="8086060">
                <a:moveTo>
                  <a:pt x="0" y="0"/>
                </a:moveTo>
                <a:lnTo>
                  <a:pt x="8086061" y="0"/>
                </a:lnTo>
                <a:lnTo>
                  <a:pt x="8086061" y="8086061"/>
                </a:lnTo>
                <a:lnTo>
                  <a:pt x="0" y="8086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1928816" y="449266"/>
            <a:ext cx="12718369" cy="9388469"/>
          </a:xfrm>
          <a:custGeom>
            <a:avLst/>
            <a:gdLst/>
            <a:ahLst/>
            <a:cxnLst/>
            <a:rect r="r" b="b" t="t" l="l"/>
            <a:pathLst>
              <a:path h="9388469" w="12718369">
                <a:moveTo>
                  <a:pt x="0" y="0"/>
                </a:moveTo>
                <a:lnTo>
                  <a:pt x="12718368" y="0"/>
                </a:lnTo>
                <a:lnTo>
                  <a:pt x="12718368" y="9388468"/>
                </a:lnTo>
                <a:lnTo>
                  <a:pt x="0" y="9388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99965" y="2461924"/>
            <a:ext cx="5059133" cy="5960687"/>
          </a:xfrm>
          <a:custGeom>
            <a:avLst/>
            <a:gdLst/>
            <a:ahLst/>
            <a:cxnLst/>
            <a:rect r="r" b="b" t="t" l="l"/>
            <a:pathLst>
              <a:path h="5960687" w="5059133">
                <a:moveTo>
                  <a:pt x="0" y="0"/>
                </a:moveTo>
                <a:lnTo>
                  <a:pt x="5059132" y="0"/>
                </a:lnTo>
                <a:lnTo>
                  <a:pt x="5059132" y="5960686"/>
                </a:lnTo>
                <a:lnTo>
                  <a:pt x="0" y="5960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71219" y="4200702"/>
            <a:ext cx="8148349" cy="168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658"/>
              </a:lnSpc>
            </a:pPr>
            <a:r>
              <a:rPr lang="en-US" b="true" sz="9755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57310" y="3559519"/>
            <a:ext cx="6281646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Questions &amp; Discussion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57310" y="5364578"/>
            <a:ext cx="6281646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Snowflake Trial: app.snowflake.com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57310" y="6267108"/>
            <a:ext cx="6281646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Community: community.snowflake.com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57310" y="4462049"/>
            <a:ext cx="6281646" cy="413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245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Explore Snowflake: docs.snowflake.com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DAHNguGUJ9c</dc:identifier>
  <dcterms:modified xsi:type="dcterms:W3CDTF">2011-08-01T06:04:30Z</dcterms:modified>
  <cp:revision>1</cp:revision>
  <dc:title>Snowflake Architecture Deep Dive</dc:title>
</cp:coreProperties>
</file>